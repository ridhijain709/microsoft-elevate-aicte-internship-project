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sldIdLst>
    <p:sldId id="256" r:id="rId4"/>
    <p:sldId id="571" r:id="rId6"/>
    <p:sldId id="572" r:id="rId7"/>
    <p:sldId id="573" r:id="rId8"/>
    <p:sldId id="580" r:id="rId9"/>
    <p:sldId id="574" r:id="rId10"/>
    <p:sldId id="575" r:id="rId11"/>
    <p:sldId id="576" r:id="rId12"/>
    <p:sldId id="577" r:id="rId13"/>
    <p:sldId id="579" r:id="rId14"/>
    <p:sldId id="578" r:id="rId15"/>
    <p:sldId id="536" r:id="rId16"/>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gs" Target="tags/tag4.xml"/><Relationship Id="rId20" Type="http://schemas.microsoft.com/office/2018/10/relationships/authors" Targe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6.xml"/><Relationship Id="rId4" Type="http://schemas.openxmlformats.org/officeDocument/2006/relationships/tags" Target="../tags/tag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fontScale="7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altLang="en-US" sz="5100">
                <a:latin typeface="Aptos"/>
              </a:rPr>
              <a:t>Professional Vocational Training Analysis Dashboard</a:t>
            </a:r>
            <a:endParaRPr lang="en-US" altLang="en-US" sz="5100">
              <a:latin typeface="Aptos"/>
            </a:endParaRPr>
          </a:p>
          <a:p>
            <a:pPr algn="l"/>
            <a:endParaRPr lang="en-US" sz="5100" b="1" kern="120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a:t>Student Name:</a:t>
            </a:r>
            <a:r>
              <a:rPr lang="en-IN" altLang="en-US" sz="1600" b="1" cap="all"/>
              <a:t> </a:t>
            </a:r>
            <a:r>
              <a:rPr lang="en-US" altLang="en-US" sz="1600" b="1" cap="all"/>
              <a:t>Ridhi Jain</a:t>
            </a:r>
            <a:endParaRPr lang="en-US" altLang="en-US" sz="1600" b="1" cap="all"/>
          </a:p>
          <a:p>
            <a:pPr algn="l">
              <a:spcAft>
                <a:spcPts val="600"/>
              </a:spcAft>
            </a:pPr>
            <a:r>
              <a:rPr lang="en-US" sz="1600" b="1" cap="all"/>
              <a:t>College Name:</a:t>
            </a:r>
            <a:r>
              <a:rPr lang="en-IN" altLang="en-US" sz="1600" b="1" cap="all"/>
              <a:t> </a:t>
            </a:r>
            <a:r>
              <a:rPr lang="en-US" altLang="en-US" sz="1600" b="1" cap="all"/>
              <a:t>SD College of Management Studies (SDCMS)</a:t>
            </a:r>
            <a:endParaRPr lang="en-US" altLang="en-US" sz="1600" b="1" cap="all"/>
          </a:p>
          <a:p>
            <a:pPr algn="l">
              <a:spcAft>
                <a:spcPts val="600"/>
              </a:spcAft>
            </a:pPr>
            <a:r>
              <a:rPr lang="en-US" sz="1600" b="1" cap="all"/>
              <a:t>Department:</a:t>
            </a:r>
            <a:r>
              <a:rPr lang="en-IN" altLang="en-US" sz="1600" b="1" cap="all"/>
              <a:t>BBA</a:t>
            </a:r>
            <a:endParaRPr lang="en-US" sz="1600" b="1" cap="all"/>
          </a:p>
          <a:p>
            <a:pPr algn="l">
              <a:spcAft>
                <a:spcPts val="600"/>
              </a:spcAft>
            </a:pPr>
            <a:r>
              <a:rPr lang="en-US" sz="1600" b="1" cap="all"/>
              <a:t>Email ID:</a:t>
            </a:r>
            <a:r>
              <a:rPr lang="en-IN" altLang="en-US" sz="1600" b="1" cap="all"/>
              <a:t> ridhijain608@gmail.com</a:t>
            </a:r>
            <a:endParaRPr lang="en-IN" altLang="en-US" sz="1600" b="1" cap="all"/>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2"/>
          <a:stretch>
            <a:fillRect/>
          </a:stretch>
        </p:blipFill>
        <p:spPr>
          <a:xfrm>
            <a:off x="6525560" y="963029"/>
            <a:ext cx="4590784" cy="4936489"/>
          </a:xfrm>
          <a:prstGeom prst="rect">
            <a:avLst/>
          </a:prstGeom>
        </p:spPr>
      </p:pic>
      <p:pic>
        <p:nvPicPr>
          <p:cNvPr id="6" name="Picture 5" descr="author"/>
          <p:cNvPicPr>
            <a:picLocks noChangeAspect="1"/>
          </p:cNvPicPr>
          <p:nvPr/>
        </p:nvPicPr>
        <p:blipFill>
          <a:blip r:embed="rId3"/>
          <a:stretch>
            <a:fillRect/>
          </a:stretch>
        </p:blipFill>
        <p:spPr>
          <a:xfrm>
            <a:off x="6755765" y="1069340"/>
            <a:ext cx="4130040" cy="4490720"/>
          </a:xfrm>
          <a:prstGeom prst="rect">
            <a:avLst/>
          </a:prstGeom>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altLang="en-US" sz="2200"/>
              <a:t>Data Fragmentation: Managing large-scale vocational training data across multiple Indian districts is difficult due to naming inconsistencies and duplicate district names.</a:t>
            </a:r>
            <a:endParaRPr lang="en-US" altLang="en-US" sz="2200"/>
          </a:p>
          <a:p>
            <a:pPr marL="0" indent="0">
              <a:buNone/>
            </a:pPr>
            <a:endParaRPr lang="en-US" altLang="en-US" sz="2200"/>
          </a:p>
          <a:p>
            <a:pPr marL="0" indent="0">
              <a:buNone/>
            </a:pPr>
            <a:r>
              <a:rPr lang="en-US" altLang="en-US" sz="2200"/>
              <a:t>Supply Concerns: Identifying regions with high enrollment but low seating capacity is crucial for maintaining a stable supply of training resources.</a:t>
            </a:r>
            <a:endParaRPr lang="en-US" altLang="en-US" sz="2200"/>
          </a:p>
          <a:p>
            <a:pPr marL="0" indent="0">
              <a:buNone/>
            </a:pPr>
            <a:endParaRPr lang="en-US" altLang="en-US" sz="2200"/>
          </a:p>
          <a:p>
            <a:pPr marL="0" indent="0">
              <a:buNone/>
            </a:pPr>
            <a:r>
              <a:rPr lang="en-US" altLang="en-US" sz="2200"/>
              <a:t>Visibility Gap: Without real-time filtering, stakeholders cannot see year-over-year growth trends or sectoral performance clearly.</a:t>
            </a:r>
            <a:endParaRPr lang="en-US" altLang="en-US"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99540"/>
            <a:ext cx="11853545" cy="3811270"/>
          </a:xfrm>
        </p:spPr>
        <p:txBody>
          <a:bodyPr vert="horz" lIns="91440" tIns="45720" rIns="91440" bIns="45720" rtlCol="0" anchor="t">
            <a:noAutofit/>
          </a:bodyPr>
          <a:lstStyle/>
          <a:p>
            <a:pPr marL="0" indent="0">
              <a:spcBef>
                <a:spcPct val="20000"/>
              </a:spcBef>
              <a:spcAft>
                <a:spcPts val="600"/>
              </a:spcAft>
              <a:buFont typeface="Arial" panose="020B0604020202020204"/>
              <a:buNone/>
            </a:pPr>
            <a:r>
              <a:rPr lang="en-IN" altLang="en-GB" sz="1600" dirty="0"/>
              <a:t> </a:t>
            </a:r>
            <a:r>
              <a:rPr lang="en-US" altLang="en-US" sz="1600" dirty="0"/>
              <a:t>The proposed system aims to address the challenge of monitoring and analyzing vocational training enrollment across diverse regions to ensure an equitable distribution of educational resources. This involves leveraging data visualization and business intelligence techniques to identify growth patterns and capacity gaps.</a:t>
            </a:r>
            <a:endParaRPr lang="en-US" altLang="en-US" sz="1600" dirty="0"/>
          </a:p>
          <a:p>
            <a:pPr marL="0" indent="0">
              <a:spcBef>
                <a:spcPct val="20000"/>
              </a:spcBef>
              <a:spcAft>
                <a:spcPts val="600"/>
              </a:spcAft>
              <a:buFont typeface="Arial" panose="020B0604020202020204"/>
              <a:buNone/>
            </a:pPr>
            <a:r>
              <a:rPr lang="en-US" altLang="en-US" sz="1600" dirty="0"/>
              <a:t>The solution consists of the following components:</a:t>
            </a:r>
            <a:endParaRPr lang="en-US" altLang="en-US" sz="1600" dirty="0"/>
          </a:p>
          <a:p>
            <a:pPr marL="0" indent="0">
              <a:spcBef>
                <a:spcPct val="20000"/>
              </a:spcBef>
              <a:spcAft>
                <a:spcPts val="600"/>
              </a:spcAft>
              <a:buFont typeface="Arial" panose="020B0604020202020204"/>
              <a:buNone/>
            </a:pPr>
            <a:r>
              <a:rPr lang="en-US" altLang="en-US" sz="1600" dirty="0"/>
              <a:t>Data Collection:</a:t>
            </a:r>
            <a:endParaRPr lang="en-US" altLang="en-US" sz="1600" dirty="0"/>
          </a:p>
          <a:p>
            <a:pPr marL="0" indent="0">
              <a:spcBef>
                <a:spcPct val="20000"/>
              </a:spcBef>
              <a:spcAft>
                <a:spcPts val="600"/>
              </a:spcAft>
              <a:buFont typeface="Arial" panose="020B0604020202020204"/>
              <a:buNone/>
            </a:pPr>
            <a:r>
              <a:rPr lang="en-US" altLang="en-US" sz="1600" dirty="0"/>
              <a:t>Historical Enrollment Data: Gathered data on trainee counts, including year, state, district, and specific training institutes.</a:t>
            </a:r>
            <a:endParaRPr lang="en-US" altLang="en-US" sz="1600" dirty="0"/>
          </a:p>
          <a:p>
            <a:pPr marL="0" indent="0">
              <a:spcBef>
                <a:spcPct val="20000"/>
              </a:spcBef>
              <a:spcAft>
                <a:spcPts val="600"/>
              </a:spcAft>
              <a:buFont typeface="Arial" panose="020B0604020202020204"/>
              <a:buNone/>
            </a:pPr>
            <a:r>
              <a:rPr lang="en-US" altLang="en-US" sz="1600" dirty="0"/>
              <a:t>Infrastructure Metrics: Utilized data regarding seating capacity and available apprenticeship opportunities to evaluate institutional efficiency.</a:t>
            </a:r>
            <a:endParaRPr lang="en-US" altLang="en-US" sz="1600" dirty="0"/>
          </a:p>
          <a:p>
            <a:pPr marL="0" indent="0">
              <a:spcBef>
                <a:spcPct val="20000"/>
              </a:spcBef>
              <a:spcAft>
                <a:spcPts val="600"/>
              </a:spcAft>
              <a:buFont typeface="Arial" panose="020B0604020202020204"/>
              <a:buNone/>
            </a:pPr>
            <a:endParaRPr lang="en-US" altLang="en-US" sz="1600" dirty="0"/>
          </a:p>
          <a:p>
            <a:pPr marL="0" indent="0">
              <a:spcBef>
                <a:spcPct val="20000"/>
              </a:spcBef>
              <a:spcAft>
                <a:spcPts val="600"/>
              </a:spcAft>
              <a:buFont typeface="Arial" panose="020B0604020202020204"/>
              <a:buNone/>
            </a:pPr>
            <a:r>
              <a:rPr lang="en-US" altLang="en-US" sz="1600" dirty="0"/>
              <a:t>Data Preprocessing:</a:t>
            </a:r>
            <a:endParaRPr lang="en-US" altLang="en-US" sz="1600" dirty="0"/>
          </a:p>
          <a:p>
            <a:pPr marL="0" indent="0">
              <a:spcBef>
                <a:spcPct val="20000"/>
              </a:spcBef>
              <a:spcAft>
                <a:spcPts val="600"/>
              </a:spcAft>
              <a:buFont typeface="Arial" panose="020B0604020202020204"/>
              <a:buNone/>
            </a:pPr>
            <a:r>
              <a:rPr lang="en-US" altLang="en-US" sz="1600" dirty="0"/>
              <a:t>Data Cleaning: Handled missing values and standardized naming conventions for districts to ensure accurate geospatial mapping.</a:t>
            </a:r>
            <a:endParaRPr lang="en-US" altLang="en-US" sz="1600" dirty="0"/>
          </a:p>
          <a:p>
            <a:pPr marL="0" indent="0">
              <a:spcBef>
                <a:spcPct val="20000"/>
              </a:spcBef>
              <a:spcAft>
                <a:spcPts val="600"/>
              </a:spcAft>
              <a:buFont typeface="Arial" panose="020B0604020202020204"/>
              <a:buNone/>
            </a:pPr>
            <a:r>
              <a:rPr lang="en-US" altLang="en-US" sz="1600" dirty="0"/>
              <a:t>Feature Engineering: Created unique identifiers for geographic locations and categorized sectors to allow for multi-layered filtering.</a:t>
            </a:r>
            <a:endParaRPr lang="en-US" altLang="en-US" sz="1600" dirty="0"/>
          </a:p>
          <a:p>
            <a:pPr marL="0" indent="0">
              <a:spcBef>
                <a:spcPct val="20000"/>
              </a:spcBef>
              <a:spcAft>
                <a:spcPts val="600"/>
              </a:spcAft>
              <a:buFont typeface="Arial" panose="020B0604020202020204"/>
              <a:buNone/>
            </a:pPr>
            <a:r>
              <a:rPr lang="en-US" altLang="en-US" sz="1600" dirty="0"/>
              <a:t>Analytical Framework (Algorithm):</a:t>
            </a:r>
            <a:endParaRPr lang="en-US" altLang="en-US" sz="1600" dirty="0"/>
          </a:p>
          <a:p>
            <a:pPr marL="0" indent="0">
              <a:spcBef>
                <a:spcPct val="20000"/>
              </a:spcBef>
              <a:spcAft>
                <a:spcPts val="600"/>
              </a:spcAft>
              <a:buFont typeface="Arial" panose="020B0604020202020204"/>
              <a:buNone/>
            </a:pPr>
            <a:r>
              <a:rPr lang="en-US" altLang="en-US" sz="1600" dirty="0"/>
              <a:t>Descriptive Analytics: Implemented aggregation logic to calculate total enrollment velocity and capacity utilization percentages.</a:t>
            </a:r>
            <a:endParaRPr lang="en-US" altLang="en-US" sz="1600" dirty="0"/>
          </a:p>
          <a:p>
            <a:pPr marL="0" indent="0">
              <a:spcBef>
                <a:spcPct val="20000"/>
              </a:spcBef>
              <a:spcAft>
                <a:spcPts val="600"/>
              </a:spcAft>
              <a:buFont typeface="Arial" panose="020B0604020202020204"/>
              <a:buNone/>
            </a:pPr>
            <a:r>
              <a:rPr lang="en-US" altLang="en-US" sz="1600" dirty="0"/>
              <a:t>Geospatial Analysis: Integrated a dynamic mapping system to visualize regional density and identify underserved vocational hubs.</a:t>
            </a:r>
            <a:endParaRPr lang="en-US" altLang="en-US" sz="1600" dirty="0"/>
          </a:p>
          <a:p>
            <a:pPr marL="0" indent="0">
              <a:spcBef>
                <a:spcPct val="20000"/>
              </a:spcBef>
              <a:spcAft>
                <a:spcPts val="600"/>
              </a:spcAft>
              <a:buFont typeface="Arial" panose="020B0604020202020204"/>
              <a:buNone/>
            </a:pPr>
            <a:endParaRPr lang="en-US" altLang="en-US" sz="1600" dirty="0"/>
          </a:p>
          <a:p>
            <a:pPr marL="0" indent="0">
              <a:spcBef>
                <a:spcPct val="20000"/>
              </a:spcBef>
              <a:spcAft>
                <a:spcPts val="600"/>
              </a:spcAft>
              <a:buFont typeface="Arial" panose="020B0604020202020204"/>
              <a:buNone/>
            </a:pPr>
            <a:endParaRPr lang="en-US"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rot="10800000" flipH="1" flipV="1">
            <a:off x="621665" y="801370"/>
            <a:ext cx="10711815" cy="3812540"/>
          </a:xfrm>
        </p:spPr>
        <p:txBody>
          <a:bodyPr/>
          <a:p>
            <a:pPr marL="0" indent="0">
              <a:spcBef>
                <a:spcPct val="20000"/>
              </a:spcBef>
              <a:spcAft>
                <a:spcPts val="600"/>
              </a:spcAft>
              <a:buFont typeface="Arial" panose="020B0604020202020204"/>
              <a:buNone/>
            </a:pPr>
            <a:r>
              <a:rPr lang="en-US" altLang="en-US" sz="1600" dirty="0">
                <a:sym typeface="+mn-ea"/>
              </a:rPr>
              <a:t>Deployment:</a:t>
            </a:r>
            <a:endParaRPr lang="en-US" altLang="en-US" sz="1600" dirty="0"/>
          </a:p>
          <a:p>
            <a:pPr marL="0" indent="0">
              <a:spcBef>
                <a:spcPct val="20000"/>
              </a:spcBef>
              <a:spcAft>
                <a:spcPts val="600"/>
              </a:spcAft>
              <a:buFont typeface="Arial" panose="020B0604020202020204"/>
              <a:buNone/>
            </a:pPr>
            <a:r>
              <a:rPr lang="en-US" altLang="en-US" sz="1600" dirty="0">
                <a:sym typeface="+mn-ea"/>
              </a:rPr>
              <a:t>Interactive Interface: Developed a user-friendly Power BI dashboard with temporal slicers and hitech visuals (Treemaps, Gauges) for real-time data exploration.</a:t>
            </a:r>
            <a:endParaRPr lang="en-US" altLang="en-US" sz="1600" dirty="0"/>
          </a:p>
          <a:p>
            <a:pPr marL="0" indent="0">
              <a:spcBef>
                <a:spcPct val="20000"/>
              </a:spcBef>
              <a:spcAft>
                <a:spcPts val="600"/>
              </a:spcAft>
              <a:buFont typeface="Arial" panose="020B0604020202020204"/>
              <a:buNone/>
            </a:pPr>
            <a:r>
              <a:rPr lang="en-US" altLang="en-US" sz="1600" dirty="0">
                <a:sym typeface="+mn-ea"/>
              </a:rPr>
              <a:t>Cloud Hosting: Deployed the solution via GitHub, providing the .pbix source file and comprehensive documentation for stakeholder accessibility.</a:t>
            </a:r>
            <a:endParaRPr lang="en-US" altLang="en-US" sz="1600" dirty="0"/>
          </a:p>
          <a:p>
            <a:pPr marL="0" indent="0">
              <a:spcBef>
                <a:spcPct val="20000"/>
              </a:spcBef>
              <a:spcAft>
                <a:spcPts val="600"/>
              </a:spcAft>
              <a:buFont typeface="Arial" panose="020B0604020202020204"/>
              <a:buNone/>
            </a:pPr>
            <a:endParaRPr lang="en-US" altLang="en-US" sz="1600" dirty="0"/>
          </a:p>
          <a:p>
            <a:pPr marL="0" indent="0">
              <a:spcBef>
                <a:spcPct val="20000"/>
              </a:spcBef>
              <a:spcAft>
                <a:spcPts val="600"/>
              </a:spcAft>
              <a:buFont typeface="Arial" panose="020B0604020202020204"/>
              <a:buNone/>
            </a:pPr>
            <a:r>
              <a:rPr lang="en-US" altLang="en-US" sz="1600" dirty="0">
                <a:sym typeface="+mn-ea"/>
              </a:rPr>
              <a:t>Evaluation:</a:t>
            </a:r>
            <a:endParaRPr lang="en-US" altLang="en-US" sz="1600" dirty="0"/>
          </a:p>
          <a:p>
            <a:pPr marL="0" indent="0">
              <a:spcBef>
                <a:spcPct val="20000"/>
              </a:spcBef>
              <a:spcAft>
                <a:spcPts val="600"/>
              </a:spcAft>
              <a:buFont typeface="Arial" panose="020B0604020202020204"/>
              <a:buNone/>
            </a:pPr>
            <a:r>
              <a:rPr lang="en-US" altLang="en-US" sz="1600" dirty="0">
                <a:sym typeface="+mn-ea"/>
              </a:rPr>
              <a:t>Performance Metrics: Assessed dashboard effectiveness based on data refresh speed, slicer responsiveness, and visual clarity of "High-Demand" sectors.</a:t>
            </a:r>
            <a:endParaRPr lang="en-US" altLang="en-US" sz="1600" dirty="0"/>
          </a:p>
          <a:p>
            <a:pPr marL="0" indent="0">
              <a:spcBef>
                <a:spcPct val="20000"/>
              </a:spcBef>
              <a:spcAft>
                <a:spcPts val="600"/>
              </a:spcAft>
              <a:buFont typeface="Arial" panose="020B0604020202020204"/>
              <a:buNone/>
            </a:pPr>
            <a:r>
              <a:rPr lang="en-US" altLang="en-US" sz="1600" dirty="0">
                <a:sym typeface="+mn-ea"/>
              </a:rPr>
              <a:t>UI/UX Optimization: Refined the high-contrast dark-mode theme based on readability requirements for executive-level presentations.</a:t>
            </a:r>
            <a:endParaRPr lang="en-US" altLang="en-US" sz="1600" dirty="0"/>
          </a:p>
          <a:p>
            <a:pPr marL="0" indent="0">
              <a:spcBef>
                <a:spcPct val="20000"/>
              </a:spcBef>
              <a:spcAft>
                <a:spcPts val="600"/>
              </a:spcAft>
              <a:buFont typeface="Arial" panose="020B0604020202020204"/>
              <a:buNone/>
            </a:pPr>
            <a:endParaRPr lang="en-US" altLang="en-US" sz="1600" dirty="0"/>
          </a:p>
          <a:p>
            <a:pPr marL="0" indent="0">
              <a:spcBef>
                <a:spcPct val="20000"/>
              </a:spcBef>
              <a:spcAft>
                <a:spcPts val="600"/>
              </a:spcAft>
              <a:buFont typeface="Arial" panose="020B0604020202020204"/>
              <a:buNone/>
            </a:pPr>
            <a:r>
              <a:rPr lang="en-US" altLang="en-US" sz="1600" dirty="0">
                <a:sym typeface="+mn-ea"/>
              </a:rPr>
              <a:t>Result: Output Summary</a:t>
            </a:r>
            <a:endParaRPr lang="en-US" altLang="en-US" sz="1600" dirty="0"/>
          </a:p>
          <a:p>
            <a:pPr marL="0" indent="0">
              <a:spcBef>
                <a:spcPct val="20000"/>
              </a:spcBef>
              <a:spcAft>
                <a:spcPts val="600"/>
              </a:spcAft>
              <a:buFont typeface="Arial" panose="020B0604020202020204"/>
              <a:buNone/>
            </a:pPr>
            <a:r>
              <a:rPr lang="en-US" altLang="en-US" sz="1600" dirty="0">
                <a:sym typeface="+mn-ea"/>
              </a:rPr>
              <a:t>Outcome: Successfully engineered a 360-degree analytical suite that monitors enrollment against seating capacity.</a:t>
            </a:r>
            <a:endParaRPr lang="en-US" altLang="en-US" sz="1600" dirty="0"/>
          </a:p>
          <a:p>
            <a:pPr marL="0" indent="0">
              <a:spcBef>
                <a:spcPct val="20000"/>
              </a:spcBef>
              <a:spcAft>
                <a:spcPts val="600"/>
              </a:spcAft>
              <a:buFont typeface="Arial" panose="020B0604020202020204"/>
              <a:buNone/>
            </a:pPr>
            <a:endParaRPr lang="en-US" altLang="en-US" sz="1600" dirty="0"/>
          </a:p>
          <a:p>
            <a:pPr marL="0" indent="0">
              <a:spcBef>
                <a:spcPct val="20000"/>
              </a:spcBef>
              <a:spcAft>
                <a:spcPts val="600"/>
              </a:spcAft>
              <a:buFont typeface="Arial" panose="020B0604020202020204"/>
              <a:buNone/>
            </a:pPr>
            <a:r>
              <a:rPr lang="en-US" altLang="en-US" sz="1600" dirty="0">
                <a:sym typeface="+mn-ea"/>
              </a:rPr>
              <a:t>Impact: This solution enables decision-makers to transition from macro-level state trends to micro-level district performance, ensuring that vocational training remains accessible to the public at the right time.</a:t>
            </a:r>
            <a:endParaRPr lang="en-US" altLang="en-US" sz="1600" dirty="0"/>
          </a:p>
          <a:p>
            <a:pPr marL="0" indent="0">
              <a:buNone/>
            </a:pPr>
            <a:endParaRPr lang="en-IN"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US" altLang="en-US" sz="2200"/>
              <a:t>Technology Used: Microsoft Power BI Desktop and Power Query.</a:t>
            </a:r>
            <a:endParaRPr lang="en-US" altLang="en-US" sz="2200"/>
          </a:p>
          <a:p>
            <a:pPr marL="0" indent="0">
              <a:spcBef>
                <a:spcPct val="20000"/>
              </a:spcBef>
              <a:spcAft>
                <a:spcPts val="600"/>
              </a:spcAft>
              <a:buNone/>
            </a:pPr>
            <a:endParaRPr lang="en-US" altLang="en-US" sz="2200"/>
          </a:p>
          <a:p>
            <a:pPr marL="0" indent="0">
              <a:spcBef>
                <a:spcPct val="20000"/>
              </a:spcBef>
              <a:spcAft>
                <a:spcPts val="600"/>
              </a:spcAft>
              <a:buNone/>
            </a:pPr>
            <a:r>
              <a:rPr lang="en-US" altLang="en-US" sz="2200"/>
              <a:t>Data Preprocessing: Used Power Query to handle missing values and created a Unique_ID to resolve geographic data conflicts.</a:t>
            </a:r>
            <a:endParaRPr lang="en-US" altLang="en-US" sz="2200"/>
          </a:p>
          <a:p>
            <a:pPr marL="0" indent="0">
              <a:spcBef>
                <a:spcPct val="20000"/>
              </a:spcBef>
              <a:spcAft>
                <a:spcPts val="600"/>
              </a:spcAft>
              <a:buNone/>
            </a:pPr>
            <a:endParaRPr lang="en-US" altLang="en-US" sz="2200"/>
          </a:p>
          <a:p>
            <a:pPr marL="0" indent="0">
              <a:spcBef>
                <a:spcPct val="20000"/>
              </a:spcBef>
              <a:spcAft>
                <a:spcPts val="600"/>
              </a:spcAft>
              <a:buNone/>
            </a:pPr>
            <a:r>
              <a:rPr lang="en-US" altLang="en-US" sz="2200"/>
              <a:t>UI/UX Design: Applied a professional dark-mode theme with high-contrast (white/cyan) text for maximum readability.</a:t>
            </a:r>
            <a:endParaRPr lang="en-US" altLang="en-US" sz="2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pPr marL="305435" indent="-305435">
              <a:spcBef>
                <a:spcPct val="20000"/>
              </a:spcBef>
              <a:spcAft>
                <a:spcPts val="600"/>
              </a:spcAft>
              <a:buFont typeface="Arial" panose="020B0604020202020204"/>
              <a:buChar char="•"/>
            </a:pPr>
            <a:r>
              <a:rPr lang="en-US" altLang="en-US" sz="1500"/>
              <a:t>Data Input: Utilized Trainees_Enrolled, Seating_Capacity, and Year as primary features.</a:t>
            </a:r>
            <a:endParaRPr lang="en-US" altLang="en-US" sz="1500"/>
          </a:p>
          <a:p>
            <a:pPr marL="305435" indent="-305435">
              <a:spcBef>
                <a:spcPct val="20000"/>
              </a:spcBef>
              <a:spcAft>
                <a:spcPts val="600"/>
              </a:spcAft>
              <a:buFont typeface="Arial" panose="020B0604020202020204"/>
              <a:buChar char="•"/>
            </a:pPr>
            <a:endParaRPr lang="en-US" altLang="en-US" sz="1500"/>
          </a:p>
          <a:p>
            <a:pPr marL="305435" indent="-305435">
              <a:spcBef>
                <a:spcPct val="20000"/>
              </a:spcBef>
              <a:spcAft>
                <a:spcPts val="600"/>
              </a:spcAft>
              <a:buFont typeface="Arial" panose="020B0604020202020204"/>
              <a:buChar char="•"/>
            </a:pPr>
            <a:r>
              <a:rPr lang="en-US" altLang="en-US" sz="1500"/>
              <a:t>Visual Logic: Leveraged DAX (Data Analysis Expressions) to calculate sums and percentages for sectoral distribution.</a:t>
            </a:r>
            <a:endParaRPr lang="en-US" altLang="en-US" sz="1500"/>
          </a:p>
          <a:p>
            <a:pPr marL="305435" indent="-305435">
              <a:spcBef>
                <a:spcPct val="20000"/>
              </a:spcBef>
              <a:spcAft>
                <a:spcPts val="600"/>
              </a:spcAft>
              <a:buFont typeface="Arial" panose="020B0604020202020204"/>
              <a:buChar char="•"/>
            </a:pPr>
            <a:endParaRPr lang="en-US" altLang="en-US" sz="1500"/>
          </a:p>
          <a:p>
            <a:pPr marL="305435" indent="-305435">
              <a:spcBef>
                <a:spcPct val="20000"/>
              </a:spcBef>
              <a:spcAft>
                <a:spcPts val="600"/>
              </a:spcAft>
              <a:buFont typeface="Arial" panose="020B0604020202020204"/>
              <a:buChar char="•"/>
            </a:pPr>
            <a:r>
              <a:rPr lang="en-US" altLang="en-US" sz="1500"/>
              <a:t>Deployment: The project is deployed via a public GitHub repository containing the .pbix source file and documentation.</a:t>
            </a:r>
            <a:endParaRPr lang="en-US" altLang="en-US"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42545" y="1670050"/>
            <a:ext cx="3119120" cy="1758950"/>
          </a:xfrm>
        </p:spPr>
        <p:txBody>
          <a:bodyPr vert="horz" lIns="91440" tIns="45720" rIns="91440" bIns="45720" rtlCol="0">
            <a:normAutofit fontScale="80000"/>
          </a:bodyPr>
          <a:lstStyle/>
          <a:p>
            <a:pPr marL="0" indent="0">
              <a:buNone/>
            </a:pPr>
            <a:r>
              <a:rPr lang="en-US" altLang="en-US" sz="2200"/>
              <a:t>Key Outcome: Created a 360-degree view of India's vocational landscape, allowing for real-time tracking of institutional efficiency.</a:t>
            </a:r>
            <a:endParaRPr lang="en-US" altLang="en-US" sz="2200"/>
          </a:p>
        </p:txBody>
      </p:sp>
      <p:pic>
        <p:nvPicPr>
          <p:cNvPr id="5" name="Picture 4" descr="Screenshot 2026-03-10 190652"/>
          <p:cNvPicPr>
            <a:picLocks noChangeAspect="1"/>
          </p:cNvPicPr>
          <p:nvPr/>
        </p:nvPicPr>
        <p:blipFill>
          <a:blip r:embed="rId1"/>
          <a:stretch>
            <a:fillRect/>
          </a:stretch>
        </p:blipFill>
        <p:spPr>
          <a:xfrm>
            <a:off x="2736850" y="897890"/>
            <a:ext cx="9223375" cy="51885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altLang="en-US" sz="2200"/>
              <a:t>Effectiveness: The dashboard successfully transforms raw Excel data into actionable industrial insights.</a:t>
            </a:r>
            <a:endParaRPr lang="en-US" altLang="en-US" sz="2200"/>
          </a:p>
          <a:p>
            <a:pPr marL="0" indent="0">
              <a:buNone/>
            </a:pPr>
            <a:endParaRPr lang="en-US" altLang="en-US" sz="2200"/>
          </a:p>
          <a:p>
            <a:pPr marL="0" indent="0">
              <a:buNone/>
            </a:pPr>
            <a:r>
              <a:rPr lang="en-US" altLang="en-US" sz="2200"/>
              <a:t>Stability: Accurate monitoring of enrollment velocity ensures that training centers remain accessible to the public at the right time.</a:t>
            </a:r>
            <a:endParaRPr lang="en-US" altLang="en-US"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buNone/>
            </a:pPr>
            <a:r>
              <a:rPr lang="en-US" altLang="en-US" sz="2200"/>
              <a:t>AI Integration: Incorporating machine learning models to predict future enrollment trends based on historical growth.</a:t>
            </a:r>
            <a:endParaRPr lang="en-US" altLang="en-US" sz="2200"/>
          </a:p>
          <a:p>
            <a:pPr marL="0" indent="0">
              <a:buNone/>
            </a:pPr>
            <a:endParaRPr lang="en-US" altLang="en-US" sz="2200"/>
          </a:p>
          <a:p>
            <a:pPr marL="0" indent="0">
              <a:buNone/>
            </a:pPr>
            <a:r>
              <a:rPr lang="en-US" altLang="en-US" sz="2200"/>
              <a:t>Expansion: Extending the system to include real-time placement and salary tracking for students.</a:t>
            </a:r>
            <a:endParaRPr lang="en-US" altLang="en-US"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a:latin typeface="Franklin Gothic Book" panose="020B0503020102020204"/>
              </a:rPr>
              <a:t>GitHub Link: </a:t>
            </a:r>
            <a:r>
              <a:rPr lang="en-US" altLang="en-US" sz="2200" u="sng">
                <a:solidFill>
                  <a:srgbClr val="0070C0"/>
                </a:solidFill>
                <a:latin typeface="Franklin Gothic Book" panose="020B0503020102020204"/>
              </a:rPr>
              <a:t>https://github.com/ridhijain709/Microsoft-Elevate-AICTE-Internship-Project.git</a:t>
            </a:r>
            <a:endParaRPr lang="en-US" altLang="en-US" sz="2200" u="sng">
              <a:solidFill>
                <a:srgbClr val="0070C0"/>
              </a:solidFill>
              <a:latin typeface="Franklin Gothic Book" panose="020B0503020102020204"/>
            </a:endParaRPr>
          </a:p>
          <a:p>
            <a:pPr marL="0" indent="0">
              <a:buNone/>
            </a:pPr>
            <a:r>
              <a:rPr lang="en-IN" altLang="en-US" sz="2200">
                <a:latin typeface="Franklin Gothic Book" panose="020B0503020102020204"/>
              </a:rPr>
              <a:t>NDAP: </a:t>
            </a:r>
            <a:r>
              <a:rPr lang="en-US" altLang="en-US" sz="2200">
                <a:latin typeface="Franklin Gothic Book" panose="020B0503020102020204"/>
              </a:rPr>
              <a:t>https://ndap.niti.gov.in/catalogue?sectors=16&amp;search=Variables%2CDatasetInfo&amp;query=*&amp;domain=ndap</a:t>
            </a:r>
            <a:r>
              <a:rPr lang="en-IN" altLang="en-US" sz="2200">
                <a:latin typeface="Franklin Gothic Book" panose="020B0503020102020204"/>
              </a:rPr>
              <a:t>  </a:t>
            </a:r>
            <a:r>
              <a:rPr lang="en-US" altLang="en-US" sz="1600">
                <a:latin typeface="Franklin Gothic Book" panose="020B0503020102020204"/>
              </a:rPr>
              <a:t>Skill Development Dashboard</a:t>
            </a:r>
            <a:r>
              <a:rPr lang="en-IN" altLang="en-US" sz="1600">
                <a:latin typeface="Franklin Gothic Book" panose="020B0503020102020204"/>
              </a:rPr>
              <a:t>  </a:t>
            </a:r>
            <a:r>
              <a:rPr lang="en-US" altLang="en-US" sz="1600">
                <a:latin typeface="Franklin Gothic Book" panose="020B0503020102020204"/>
              </a:rPr>
              <a:t>Apprenticeship Program</a:t>
            </a:r>
            <a:r>
              <a:rPr lang="en-IN" altLang="en-US" sz="1600">
                <a:latin typeface="Franklin Gothic Book" panose="020B0503020102020204"/>
              </a:rPr>
              <a:t>   </a:t>
            </a:r>
            <a:r>
              <a:rPr lang="en-US" altLang="en-US" sz="1600">
                <a:latin typeface="Franklin Gothic Book" panose="020B0503020102020204"/>
              </a:rPr>
              <a:t>Craftsmen Training Scheme</a:t>
            </a:r>
            <a:endParaRPr lang="en-US" altLang="en-US" sz="1600">
              <a:latin typeface="Franklin Gothic Book" panose="020B0503020102020204"/>
            </a:endParaRPr>
          </a:p>
          <a:p>
            <a:pPr marL="0" indent="0">
              <a:buNone/>
            </a:pPr>
            <a:endParaRPr lang="en-US" altLang="en-US" sz="1600">
              <a:latin typeface="Franklin Gothic Book" panose="020B05030201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endParaRPr lang="en-US" sz="4800" b="1">
              <a:solidFill>
                <a:srgbClr val="002060"/>
              </a:solidFill>
              <a:latin typeface="Arial" panose="020B0604020202020204"/>
              <a:cs typeface="Arial" panose="020B0604020202020204"/>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DESIGN_ID_1_OFFICE THEME" val="TmdBxN3j"/>
  <p:tag name="ARTICULATE_PROJECT_OPEN" val="0"/>
  <p:tag name="ARTICULATE_SLIDE_COUNT" val="9"/>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4637</Words>
  <Application>WPS Presentation</Application>
  <PresentationFormat>Widescreen</PresentationFormat>
  <Paragraphs>101</Paragraphs>
  <Slides>12</Slides>
  <Notes>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12</vt:i4>
      </vt:variant>
    </vt:vector>
  </HeadingPairs>
  <TitlesOfParts>
    <vt:vector size="27" baseType="lpstr">
      <vt:lpstr>Arial</vt:lpstr>
      <vt:lpstr>SimSun</vt:lpstr>
      <vt:lpstr>Wingdings</vt:lpstr>
      <vt:lpstr>Aptos</vt:lpstr>
      <vt:lpstr>Segoe UI</vt:lpstr>
      <vt:lpstr>Arial</vt:lpstr>
      <vt:lpstr>Franklin Gothic Book</vt:lpstr>
      <vt:lpstr>Calibri</vt:lpstr>
      <vt:lpstr>Aptos Display</vt:lpstr>
      <vt:lpstr>Segoe UI Variable Display</vt:lpstr>
      <vt:lpstr>Microsoft YaHei</vt:lpstr>
      <vt:lpstr>Arial Unicode MS</vt:lpstr>
      <vt:lpstr>Aptos</vt:lpstr>
      <vt:lpstr>1_Office Theme</vt:lpstr>
      <vt:lpstr>Custom Design</vt:lpstr>
      <vt:lpstr>PowerPoint 演示文稿</vt:lpstr>
      <vt:lpstr>OUTLINE:</vt:lpstr>
      <vt:lpstr>Problem Statement:</vt:lpstr>
      <vt:lpstr>Proposed Solution:</vt:lpstr>
      <vt:lpstr>PowerPoint 演示文稿</vt:lpstr>
      <vt:lpstr>System  Approach:</vt:lpstr>
      <vt:lpstr>Algorithm &amp; Deployment:</vt:lpstr>
      <vt:lpstr>Result:</vt:lpstr>
      <vt:lpstr>Conclusion:</vt:lpstr>
      <vt:lpstr>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Ridhi Jain</cp:lastModifiedBy>
  <cp:revision>104</cp:revision>
  <dcterms:created xsi:type="dcterms:W3CDTF">2024-05-21T11:55:00Z</dcterms:created>
  <dcterms:modified xsi:type="dcterms:W3CDTF">2026-03-10T13:37:31Z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EF7B381A1F6F4E1DB7B638834FE219E1_13</vt:lpwstr>
  </property>
  <property fmtid="{D5CDD505-2E9C-101B-9397-08002B2CF9AE}" pid="5" name="KSOProductBuildVer">
    <vt:lpwstr>1033-12.2.0.23196</vt:lpwstr>
  </property>
</Properties>
</file>